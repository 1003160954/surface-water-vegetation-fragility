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0da73ceefa48b0" /><Relationship Type="http://schemas.openxmlformats.org/officeDocument/2006/relationships/extended-properties" Target="/docProps/app.xml" Id="Rdfdf372b491c41c1" /><Relationship Type="http://schemas.openxmlformats.org/officeDocument/2006/relationships/officeDocument" Target="/ppt/presentation.xml" Id="R9b349cf2da474f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dfc18601134e60"/>
  </p:sldMasterIdLst>
  <p:notesMasterIdLst>
    <p:notesMasterId xmlns:r="http://schemas.openxmlformats.org/officeDocument/2006/relationships" r:id="R38613c570ece483c"/>
  </p:notesMasterIdLst>
  <p:sldIdLst>
    <p:sldId xmlns:r="http://schemas.openxmlformats.org/officeDocument/2006/relationships" id="256" r:id="R2a99366e2bbd45ad"/>
  </p:sldIdLst>
  <p:sldSz cx="14287500" cy="15811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e1cd023ee84a9f" /><Relationship Type="http://schemas.openxmlformats.org/officeDocument/2006/relationships/slideMaster" Target="/ppt/slideMasters/slideMaster1.xml" Id="R26dfc18601134e60" /><Relationship Type="http://schemas.openxmlformats.org/officeDocument/2006/relationships/notesMaster" Target="/ppt/notesMasters/notesMaster1.xml" Id="R38613c570ece483c" /><Relationship Type="http://schemas.openxmlformats.org/officeDocument/2006/relationships/presProps" Target="/ppt/presProps.xml" Id="Re4923c58e8e94331" /><Relationship Type="http://schemas.openxmlformats.org/officeDocument/2006/relationships/tableStyles" Target="/ppt/tableStyles.xml" Id="Ra15bf0f50cc24946" /><Relationship Type="http://schemas.openxmlformats.org/officeDocument/2006/relationships/slide" Target="/ppt/slides/slide1.xml" Id="R2a99366e2bbd45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8347c44ade4d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31536c4ccf41b4" /><Relationship Type="http://schemas.openxmlformats.org/officeDocument/2006/relationships/notesMaster" Target="/ppt/notesMasters/notesMaster1.xml" Id="R43d2b9257bac4f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6be1414c56443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f8312e4cb4470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367ceb5bf14f4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efd1ae081245a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8b274b252b4ca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55571f66dc4d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B3D56E-0945-4ACC-B50E-055CFAC1E7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28750" y="5973233"/>
            <a:ext cx="11430000" cy="2283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6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6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6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6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6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6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6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6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6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6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8FBE95B-3243-4B4B-8BF0-15822C5D696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143125" y="8696325"/>
            <a:ext cx="10001250" cy="1756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F92C821-B45C-43F8-A781-FDA622D5E2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28750" y="6588125"/>
            <a:ext cx="11430000" cy="263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92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2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2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2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2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2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2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2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2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2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DC7494B-91E8-4D47-90A2-4DDDDD008E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03672" y="1229783"/>
            <a:ext cx="12680156" cy="19325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787105E-59A6-4FF7-B04C-D05CE36424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03672" y="4392083"/>
            <a:ext cx="12680156" cy="9838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67891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6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25078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6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82266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6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39453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6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696641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6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053828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6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411016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6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768203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6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125391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6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9257D97-DF9D-4525-95C8-B4C9BB3106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03672" y="1229783"/>
            <a:ext cx="12680156" cy="19325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6DB4F1B-25C7-4A35-95A2-552303571D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03672" y="4392083"/>
            <a:ext cx="5893594" cy="9838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67891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25078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82266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39453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696641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053828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411016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768203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125391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BB172FC-6A9B-486C-8250-121F62B6C03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590234" y="4392083"/>
            <a:ext cx="5893594" cy="9838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67891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25078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82266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39453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696641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053828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411016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768203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125391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CCA6575-B7C9-49F1-A57F-8BFA45D9D0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03672" y="1229783"/>
            <a:ext cx="12680156" cy="19325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91B4675-D3BA-4DD5-B250-545DDDB8E4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03672" y="4392083"/>
            <a:ext cx="5893594" cy="9838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67891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6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25078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6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82266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6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39453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6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696641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6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053828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6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411016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6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768203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6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125391" indent="-267891" algn="l">
              <a:lnSpc>
                <a:spcPct val="110000"/>
              </a:lnSpc>
              <a:spcBef>
                <a:spcPts val="0"/>
              </a:spcBef>
              <a:spcAft>
                <a:spcPts val="1406"/>
              </a:spcAft>
              <a:buChar char="•"/>
              <a:defRPr sz="263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1e782cd3fe43c5" /><Relationship Type="http://schemas.openxmlformats.org/officeDocument/2006/relationships/slideLayout" Target="/ppt/slideLayouts/slideLayout1.xml" Id="Rc9b6368ddd6344f6" /><Relationship Type="http://schemas.openxmlformats.org/officeDocument/2006/relationships/slideLayout" Target="/ppt/slideLayouts/slideLayout2.xml" Id="Re3780684253f41cf" /><Relationship Type="http://schemas.openxmlformats.org/officeDocument/2006/relationships/slideLayout" Target="/ppt/slideLayouts/slideLayout3.xml" Id="R07cc2ad55bf04e87" /><Relationship Type="http://schemas.openxmlformats.org/officeDocument/2006/relationships/slideLayout" Target="/ppt/slideLayouts/slideLayout4.xml" Id="R42c5325381724dcc" /><Relationship Type="http://schemas.openxmlformats.org/officeDocument/2006/relationships/slideLayout" Target="/ppt/slideLayouts/slideLayout5.xml" Id="Rf1be165cffdf4477" /><Relationship Type="http://schemas.openxmlformats.org/officeDocument/2006/relationships/slideLayout" Target="/ppt/slideLayouts/slideLayout6.xml" Id="R50b73e95b4d947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b6368ddd6344f6"/>
    <p:sldLayoutId xmlns:r="http://schemas.openxmlformats.org/officeDocument/2006/relationships" id="2147483650" r:id="Re3780684253f41cf"/>
    <p:sldLayoutId xmlns:r="http://schemas.openxmlformats.org/officeDocument/2006/relationships" id="2147483651" r:id="R07cc2ad55bf04e87"/>
    <p:sldLayoutId xmlns:r="http://schemas.openxmlformats.org/officeDocument/2006/relationships" id="2147483652" r:id="R42c5325381724dcc"/>
    <p:sldLayoutId xmlns:r="http://schemas.openxmlformats.org/officeDocument/2006/relationships" id="2147483653" r:id="Rf1be165cffdf4477"/>
    <p:sldLayoutId xmlns:r="http://schemas.openxmlformats.org/officeDocument/2006/relationships" id="2147483654" r:id="R50b73e95b4d947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51b01e5f3047aa" /><Relationship Type="http://schemas.openxmlformats.org/officeDocument/2006/relationships/notesSlide" Target="/ppt/notesSlides/notesSlide1.xml" Id="R21a51d2f0838475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tage 1 background">
            <a:extLst xmlns:a="http://schemas.openxmlformats.org/drawingml/2006/main">
              <a:ext uri="{FF2B5EF4-FFF2-40B4-BE49-F238E27FC236}">
                <a16:creationId xmlns:a16="http://schemas.microsoft.com/office/drawing/2014/main" id="{3BDF15FD-F404-49BF-8EC1-FCE28BD7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33400"/>
            <a:ext cx="13830300" cy="3048000"/>
          </a:xfrm>
          <a:prstGeom xmlns:a="http://schemas.openxmlformats.org/drawingml/2006/main" prst="roundRect">
            <a:avLst>
              <a:gd name="adj" fmla="val 11875"/>
            </a:avLst>
          </a:prstGeom>
          <a:solidFill xmlns:a="http://schemas.openxmlformats.org/drawingml/2006/main">
            <a:srgbClr val="E0E9F7"/>
          </a:solidFill>
          <a:ln xmlns:a="http://schemas.openxmlformats.org/drawingml/2006/main" w="15240">
            <a:solidFill>
              <a:srgbClr val="A2B1B6"/>
            </a:solidFill>
            <a:prstDash val="solid"/>
          </a:ln>
        </p:spPr>
      </p:sp>
      <p:sp>
        <p:nvSpPr>
          <p:cNvPr id="2" name="Stage 1 heading">
            <a:extLst xmlns:a="http://schemas.openxmlformats.org/drawingml/2006/main">
              <a:ext uri="{FF2B5EF4-FFF2-40B4-BE49-F238E27FC236}">
                <a16:creationId xmlns:a16="http://schemas.microsoft.com/office/drawing/2014/main" id="{35ADEF9B-D6B7-4729-91EC-D72BAB07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71450"/>
            <a:ext cx="9810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BBDEDF"/>
          </a:solidFill>
          <a:ln xmlns:a="http://schemas.openxmlformats.org/drawingml/2006/main" w="15240">
            <a:solidFill>
              <a:srgbClr val="A2B1B6"/>
            </a:solidFill>
            <a:prstDash val="solid"/>
          </a:ln>
        </p:spPr>
      </p:sp>
      <p:sp>
        <p:nvSpPr>
          <p:cNvPr id="3" name="Stage 1 title">
            <a:extLst xmlns:a="http://schemas.openxmlformats.org/drawingml/2006/main">
              <a:ext uri="{FF2B5EF4-FFF2-40B4-BE49-F238E27FC236}">
                <a16:creationId xmlns:a16="http://schemas.microsoft.com/office/drawing/2014/main" id="{7EFA75D1-812A-4D28-A10B-6D167792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9550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300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300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300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300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300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300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300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300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300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300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rPr>
              <a:t>Data acquisition and preprocessing</a:t>
            </a:r>
          </a:p>
        </p:txBody>
      </p:sp>
      <p:sp>
        <p:nvSpPr>
          <p:cNvPr id="4" name="Vegetation inputs">
            <a:extLst xmlns:a="http://schemas.openxmlformats.org/drawingml/2006/main">
              <a:ext uri="{FF2B5EF4-FFF2-40B4-BE49-F238E27FC236}">
                <a16:creationId xmlns:a16="http://schemas.microsoft.com/office/drawing/2014/main" id="{971B31CC-263A-4614-AB7E-B8D982B9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3038475" cy="1438275"/>
          </a:xfrm>
          <a:prstGeom xmlns:a="http://schemas.openxmlformats.org/drawingml/2006/main" prst="roundRect">
            <a:avLst>
              <a:gd name="adj" fmla="val 79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A8BCC4"/>
            </a:solidFill>
            <a:prstDash val="solid"/>
          </a:ln>
        </p:spPr>
      </p:sp>
      <p:sp>
        <p:nvSpPr>
          <p:cNvPr id="5" name="Vegetation inputs title">
            <a:extLst xmlns:a="http://schemas.openxmlformats.org/drawingml/2006/main">
              <a:ext uri="{FF2B5EF4-FFF2-40B4-BE49-F238E27FC236}">
                <a16:creationId xmlns:a16="http://schemas.microsoft.com/office/drawing/2014/main" id="{7603FE81-8427-4D05-8F74-0AE2AE77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52525"/>
            <a:ext cx="2809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rPr>
              <a:t>Vegetation</a:t>
            </a:r>
          </a:p>
        </p:txBody>
      </p:sp>
      <p:sp>
        <p:nvSpPr>
          <p:cNvPr id="6" name="Vegetation inputs body">
            <a:extLst xmlns:a="http://schemas.openxmlformats.org/drawingml/2006/main">
              <a:ext uri="{FF2B5EF4-FFF2-40B4-BE49-F238E27FC236}">
                <a16:creationId xmlns:a16="http://schemas.microsoft.com/office/drawing/2014/main" id="{3D690308-89D6-4539-9907-7F6BD4A9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26955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rPr>
              <a:t>MODIS EVI and LAI</a:t>
            </a:r>
          </a:p>
          <a:p xmlns:a="http://schemas.openxmlformats.org/drawingml/2006/main">
            <a: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rPr>
              <a:t>Greenness and canopy structure</a:t>
            </a:r>
          </a:p>
        </p:txBody>
      </p:sp>
      <p:sp>
        <p:nvSpPr>
          <p:cNvPr id="7" name="Climate inputs">
            <a:extLst xmlns:a="http://schemas.openxmlformats.org/drawingml/2006/main">
              <a:ext uri="{FF2B5EF4-FFF2-40B4-BE49-F238E27FC236}">
                <a16:creationId xmlns:a16="http://schemas.microsoft.com/office/drawing/2014/main" id="{B04D3753-B8E0-4DB3-B12F-CF94EE36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066800"/>
            <a:ext cx="3038475" cy="1438275"/>
          </a:xfrm>
          <a:prstGeom xmlns:a="http://schemas.openxmlformats.org/drawingml/2006/main" prst="roundRect">
            <a:avLst>
              <a:gd name="adj" fmla="val 79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A8BCC4"/>
            </a:solidFill>
            <a:prstDash val="solid"/>
          </a:ln>
        </p:spPr>
      </p:sp>
      <p:sp>
        <p:nvSpPr>
          <p:cNvPr id="8" name="Climate inputs title">
            <a:extLst xmlns:a="http://schemas.openxmlformats.org/drawingml/2006/main">
              <a:ext uri="{FF2B5EF4-FFF2-40B4-BE49-F238E27FC236}">
                <a16:creationId xmlns:a16="http://schemas.microsoft.com/office/drawing/2014/main" id="{730A390C-37A5-4880-8578-959A429F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152525"/>
            <a:ext cx="2809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rPr>
              <a:t>Climate</a:t>
            </a:r>
          </a:p>
        </p:txBody>
      </p:sp>
      <p:sp>
        <p:nvSpPr>
          <p:cNvPr id="9" name="Climate inputs body">
            <a:extLst xmlns:a="http://schemas.openxmlformats.org/drawingml/2006/main">
              <a:ext uri="{FF2B5EF4-FFF2-40B4-BE49-F238E27FC236}">
                <a16:creationId xmlns:a16="http://schemas.microsoft.com/office/drawing/2014/main" id="{5ADDFBF4-710A-4C1C-B8C6-70941806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19250"/>
            <a:ext cx="26955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0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0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0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0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0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0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0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0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0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rPr>
              <a:t>VPD, LST and soil moisture</a:t>
            </a:r>
          </a:p>
          <a:p xmlns:a="http://schemas.openxmlformats.org/drawingml/2006/main">
            <a:pPr algn="ctr">
              <a:defRPr sz="180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rPr>
              <a:t>Precipitation and air temperature</a:t>
            </a:r>
          </a:p>
          <a:p xmlns:a="http://schemas.openxmlformats.org/drawingml/2006/main">
            <a:pPr algn="ctr">
              <a:defRPr sz="180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rPr>
              <a:t>ERA5-Land and MODIS</a:t>
            </a:r>
          </a:p>
        </p:txBody>
      </p:sp>
      <p:sp>
        <p:nvSpPr>
          <p:cNvPr id="10" name="Water inputs">
            <a:extLst xmlns:a="http://schemas.openxmlformats.org/drawingml/2006/main">
              <a:ext uri="{FF2B5EF4-FFF2-40B4-BE49-F238E27FC236}">
                <a16:creationId xmlns:a16="http://schemas.microsoft.com/office/drawing/2014/main" id="{3116F839-5721-4E97-B8AB-EF17EA43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066800"/>
            <a:ext cx="3038475" cy="1438275"/>
          </a:xfrm>
          <a:prstGeom xmlns:a="http://schemas.openxmlformats.org/drawingml/2006/main" prst="roundRect">
            <a:avLst>
              <a:gd name="adj" fmla="val 79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A8BCC4"/>
            </a:solidFill>
            <a:prstDash val="solid"/>
          </a:ln>
        </p:spPr>
      </p:sp>
      <p:sp>
        <p:nvSpPr>
          <p:cNvPr id="11" name="Water inputs title">
            <a:extLst xmlns:a="http://schemas.openxmlformats.org/drawingml/2006/main">
              <a:ext uri="{FF2B5EF4-FFF2-40B4-BE49-F238E27FC236}">
                <a16:creationId xmlns:a16="http://schemas.microsoft.com/office/drawing/2014/main" id="{8AB9BEFD-FF9C-472D-A5DF-52DD247B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152525"/>
            <a:ext cx="2809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rPr>
              <a:t>Surface water</a:t>
            </a:r>
          </a:p>
        </p:txBody>
      </p:sp>
      <p:sp>
        <p:nvSpPr>
          <p:cNvPr id="12" name="Water inputs body">
            <a:extLst xmlns:a="http://schemas.openxmlformats.org/drawingml/2006/main">
              <a:ext uri="{FF2B5EF4-FFF2-40B4-BE49-F238E27FC236}">
                <a16:creationId xmlns:a16="http://schemas.microsoft.com/office/drawing/2014/main" id="{AA7F0FE8-92C1-4C04-A6B5-F26FA515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619250"/>
            <a:ext cx="26955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rPr>
              <a:t>Occurrence and seasonality</a:t>
            </a:r>
          </a:p>
          <a:p xmlns:a="http://schemas.openxmlformats.org/drawingml/2006/main">
            <a: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rPr>
              <a:t>JRC Global Surface Water v1.4</a:t>
            </a:r>
          </a:p>
        </p:txBody>
      </p:sp>
      <p:sp>
        <p:nvSpPr>
          <p:cNvPr id="13" name="Landscape inputs">
            <a:extLst xmlns:a="http://schemas.openxmlformats.org/drawingml/2006/main">
              <a:ext uri="{FF2B5EF4-FFF2-40B4-BE49-F238E27FC236}">
                <a16:creationId xmlns:a16="http://schemas.microsoft.com/office/drawing/2014/main" id="{A7F497D1-6972-40CC-9B12-2639FC59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066800"/>
            <a:ext cx="3038475" cy="1438275"/>
          </a:xfrm>
          <a:prstGeom xmlns:a="http://schemas.openxmlformats.org/drawingml/2006/main" prst="roundRect">
            <a:avLst>
              <a:gd name="adj" fmla="val 79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A8BCC4"/>
            </a:solidFill>
            <a:prstDash val="solid"/>
          </a:ln>
        </p:spPr>
      </p:sp>
      <p:sp>
        <p:nvSpPr>
          <p:cNvPr id="14" name="Landscape inputs title">
            <a:extLst xmlns:a="http://schemas.openxmlformats.org/drawingml/2006/main">
              <a:ext uri="{FF2B5EF4-FFF2-40B4-BE49-F238E27FC236}">
                <a16:creationId xmlns:a16="http://schemas.microsoft.com/office/drawing/2014/main" id="{9B60623B-1BA9-45D8-938A-F5BE9CD3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152525"/>
            <a:ext cx="2809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rPr>
              <a:t>Landscape</a:t>
            </a:r>
          </a:p>
        </p:txBody>
      </p:sp>
      <p:sp>
        <p:nvSpPr>
          <p:cNvPr id="15" name="Landscape inputs body">
            <a:extLst xmlns:a="http://schemas.openxmlformats.org/drawingml/2006/main">
              <a:ext uri="{FF2B5EF4-FFF2-40B4-BE49-F238E27FC236}">
                <a16:creationId xmlns:a16="http://schemas.microsoft.com/office/drawing/2014/main" id="{65167C55-BB36-48DF-BFC4-0FE3FA4A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1619250"/>
            <a:ext cx="26955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7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7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7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7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7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7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7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7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7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rPr>
              <a:t>Elevation, slope and land cover</a:t>
            </a:r>
          </a:p>
          <a:p xmlns:a="http://schemas.openxmlformats.org/drawingml/2006/main">
            <a:pPr algn="ctr">
              <a:defRPr sz="187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rPr>
              <a:t>WorldClim temperature</a:t>
            </a:r>
          </a:p>
          <a:p xmlns:a="http://schemas.openxmlformats.org/drawingml/2006/main">
            <a:pPr algn="ctr">
              <a:defRPr sz="187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rPr>
              <a:t>and precipitation</a:t>
            </a:r>
          </a:p>
        </p:txBody>
      </p:sp>
      <p:sp>
        <p:nvSpPr>
          <p:cNvPr id="16" name="Input to preprocessing 203">
            <a:extLst xmlns:a="http://schemas.openxmlformats.org/drawingml/2006/main">
              <a:ext uri="{FF2B5EF4-FFF2-40B4-BE49-F238E27FC236}">
                <a16:creationId xmlns:a16="http://schemas.microsoft.com/office/drawing/2014/main" id="{763D8FD0-B0B9-4989-BE48-0D3B3002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571750"/>
            <a:ext cx="3619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87EBA"/>
          </a:solidFill>
          <a:ln xmlns:a="http://schemas.openxmlformats.org/drawingml/2006/main" w="4763">
            <a:solidFill>
              <a:srgbClr val="087EBA"/>
            </a:solidFill>
          </a:ln>
        </p:spPr>
      </p:sp>
      <p:sp>
        <p:nvSpPr>
          <p:cNvPr id="17" name="Input to preprocessing 555">
            <a:extLst xmlns:a="http://schemas.openxmlformats.org/drawingml/2006/main">
              <a:ext uri="{FF2B5EF4-FFF2-40B4-BE49-F238E27FC236}">
                <a16:creationId xmlns:a16="http://schemas.microsoft.com/office/drawing/2014/main" id="{78E6A6E3-A8C5-43B9-92FD-6EB63164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571750"/>
            <a:ext cx="3619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87EBA"/>
          </a:solidFill>
          <a:ln xmlns:a="http://schemas.openxmlformats.org/drawingml/2006/main" w="4763">
            <a:solidFill>
              <a:srgbClr val="087EBA"/>
            </a:solidFill>
          </a:ln>
        </p:spPr>
      </p:sp>
      <p:sp>
        <p:nvSpPr>
          <p:cNvPr id="18" name="Input to preprocessing 907">
            <a:extLst xmlns:a="http://schemas.openxmlformats.org/drawingml/2006/main">
              <a:ext uri="{FF2B5EF4-FFF2-40B4-BE49-F238E27FC236}">
                <a16:creationId xmlns:a16="http://schemas.microsoft.com/office/drawing/2014/main" id="{8A365920-3680-4306-A49B-1A98FDCD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571750"/>
            <a:ext cx="3619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87EBA"/>
          </a:solidFill>
          <a:ln xmlns:a="http://schemas.openxmlformats.org/drawingml/2006/main" w="4763">
            <a:solidFill>
              <a:srgbClr val="087EBA"/>
            </a:solidFill>
          </a:ln>
        </p:spPr>
      </p:sp>
      <p:sp>
        <p:nvSpPr>
          <p:cNvPr id="19" name="Input to preprocessing 1259">
            <a:extLst xmlns:a="http://schemas.openxmlformats.org/drawingml/2006/main">
              <a:ext uri="{FF2B5EF4-FFF2-40B4-BE49-F238E27FC236}">
                <a16:creationId xmlns:a16="http://schemas.microsoft.com/office/drawing/2014/main" id="{A2158674-D7B4-4469-B5F8-A3FD8B18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975" y="2571750"/>
            <a:ext cx="3619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87EBA"/>
          </a:solidFill>
          <a:ln xmlns:a="http://schemas.openxmlformats.org/drawingml/2006/main" w="4763">
            <a:solidFill>
              <a:srgbClr val="087EBA"/>
            </a:solidFill>
          </a:ln>
        </p:spPr>
      </p:sp>
      <p:sp>
        <p:nvSpPr>
          <p:cNvPr id="20" name="Shared gridded panel">
            <a:extLst xmlns:a="http://schemas.openxmlformats.org/drawingml/2006/main">
              <a:ext uri="{FF2B5EF4-FFF2-40B4-BE49-F238E27FC236}">
                <a16:creationId xmlns:a16="http://schemas.microsoft.com/office/drawing/2014/main" id="{21A81AE0-6D33-4CDF-BC55-8A439AF8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24175"/>
            <a:ext cx="12192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15240">
            <a:solidFill>
              <a:srgbClr val="92AEC2"/>
            </a:solidFill>
            <a:prstDash val="solid"/>
          </a:ln>
        </p:spPr>
      </p:sp>
      <p:sp>
        <p:nvSpPr>
          <p:cNvPr id="21" name="Shared preprocessing">
            <a:extLst xmlns:a="http://schemas.openxmlformats.org/drawingml/2006/main">
              <a:ext uri="{FF2B5EF4-FFF2-40B4-BE49-F238E27FC236}">
                <a16:creationId xmlns:a16="http://schemas.microsoft.com/office/drawing/2014/main" id="{00B6C8CE-8B58-49F3-9C5D-D3CF814B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62275"/>
            <a:ext cx="1184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rPr>
              <a:t>Temporal alignment and valid-record filtering     0.1° grid-year panel     China, 2018–2023</a:t>
            </a:r>
          </a:p>
        </p:txBody>
      </p:sp>
      <p:sp>
        <p:nvSpPr>
          <p:cNvPr id="22" name="Stage 1 to Stage 2">
            <a:extLst xmlns:a="http://schemas.openxmlformats.org/drawingml/2006/main">
              <a:ext uri="{FF2B5EF4-FFF2-40B4-BE49-F238E27FC236}">
                <a16:creationId xmlns:a16="http://schemas.microsoft.com/office/drawing/2014/main" id="{7017BF11-14F0-4E1F-ABBB-CBBADF49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48075"/>
            <a:ext cx="571500" cy="4572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87EBA"/>
          </a:solidFill>
          <a:ln xmlns:a="http://schemas.openxmlformats.org/drawingml/2006/main" w="4763">
            <a:solidFill>
              <a:srgbClr val="087EBA"/>
            </a:solidFill>
          </a:ln>
        </p:spPr>
      </p:sp>
      <p:sp>
        <p:nvSpPr>
          <p:cNvPr id="23" name="Stage 2 background">
            <a:extLst xmlns:a="http://schemas.openxmlformats.org/drawingml/2006/main">
              <a:ext uri="{FF2B5EF4-FFF2-40B4-BE49-F238E27FC236}">
                <a16:creationId xmlns:a16="http://schemas.microsoft.com/office/drawing/2014/main" id="{ABA6D8CD-6D09-4991-BEF9-BB21065B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533900"/>
            <a:ext cx="13830300" cy="3267075"/>
          </a:xfrm>
          <a:prstGeom xmlns:a="http://schemas.openxmlformats.org/drawingml/2006/main" prst="roundRect">
            <a:avLst>
              <a:gd name="adj" fmla="val 11079"/>
            </a:avLst>
          </a:prstGeom>
          <a:solidFill xmlns:a="http://schemas.openxmlformats.org/drawingml/2006/main">
            <a:srgbClr val="FCE5E6"/>
          </a:solidFill>
          <a:ln xmlns:a="http://schemas.openxmlformats.org/drawingml/2006/main" w="15240">
            <a:solidFill>
              <a:srgbClr val="A2B1B6"/>
            </a:solidFill>
            <a:prstDash val="solid"/>
          </a:ln>
        </p:spPr>
      </p:sp>
      <p:sp>
        <p:nvSpPr>
          <p:cNvPr id="24" name="Stage 2 heading">
            <a:extLst xmlns:a="http://schemas.openxmlformats.org/drawingml/2006/main">
              <a:ext uri="{FF2B5EF4-FFF2-40B4-BE49-F238E27FC236}">
                <a16:creationId xmlns:a16="http://schemas.microsoft.com/office/drawing/2014/main" id="{CAD347BB-6251-4E3C-924B-0F389F82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171950"/>
            <a:ext cx="9810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BBDEDF"/>
          </a:solidFill>
          <a:ln xmlns:a="http://schemas.openxmlformats.org/drawingml/2006/main" w="15240">
            <a:solidFill>
              <a:srgbClr val="A2B1B6"/>
            </a:solidFill>
            <a:prstDash val="solid"/>
          </a:ln>
        </p:spPr>
      </p:sp>
      <p:sp>
        <p:nvSpPr>
          <p:cNvPr id="25" name="Stage 2 title">
            <a:extLst xmlns:a="http://schemas.openxmlformats.org/drawingml/2006/main">
              <a:ext uri="{FF2B5EF4-FFF2-40B4-BE49-F238E27FC236}">
                <a16:creationId xmlns:a16="http://schemas.microsoft.com/office/drawing/2014/main" id="{E317B556-D982-49F8-BA2D-24A9DF63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10050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300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300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300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300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300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300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300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300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300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300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rPr>
              <a:t>Indicator construction and aquatic classification</a:t>
            </a:r>
          </a:p>
        </p:txBody>
      </p:sp>
      <p:sp>
        <p:nvSpPr>
          <p:cNvPr id="26" name="Vegetation event definition">
            <a:extLst xmlns:a="http://schemas.openxmlformats.org/drawingml/2006/main">
              <a:ext uri="{FF2B5EF4-FFF2-40B4-BE49-F238E27FC236}">
                <a16:creationId xmlns:a16="http://schemas.microsoft.com/office/drawing/2014/main" id="{12956DBC-02B3-4D1C-BFD1-600DC085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067300"/>
            <a:ext cx="4095750" cy="2495550"/>
          </a:xfrm>
          <a:prstGeom xmlns:a="http://schemas.openxmlformats.org/drawingml/2006/main" prst="roundRect">
            <a:avLst>
              <a:gd name="adj" fmla="val 45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A8BCC4"/>
            </a:solidFill>
            <a:prstDash val="solid"/>
          </a:ln>
        </p:spPr>
      </p:sp>
      <p:sp>
        <p:nvSpPr>
          <p:cNvPr id="27" name="Vegetation event definition title">
            <a:extLst xmlns:a="http://schemas.openxmlformats.org/drawingml/2006/main">
              <a:ext uri="{FF2B5EF4-FFF2-40B4-BE49-F238E27FC236}">
                <a16:creationId xmlns:a16="http://schemas.microsoft.com/office/drawing/2014/main" id="{54A9A59B-C9A6-4C29-866F-1E7180BA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53025"/>
            <a:ext cx="3867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rPr>
              <a:t>Vegetation anomalies</a:t>
            </a:r>
          </a:p>
        </p:txBody>
      </p:sp>
      <p:sp>
        <p:nvSpPr>
          <p:cNvPr id="28" name="Vegetation event definition body">
            <a:extLst xmlns:a="http://schemas.openxmlformats.org/drawingml/2006/main">
              <a:ext uri="{FF2B5EF4-FFF2-40B4-BE49-F238E27FC236}">
                <a16:creationId xmlns:a16="http://schemas.microsoft.com/office/drawing/2014/main" id="{9EFF9098-2AE0-43A3-8CDB-E72FABCF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619750"/>
            <a:ext cx="37528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rPr>
              <a:t>Local seasonal standardization</a:t>
            </a:r>
          </a:p>
          <a:p xmlns:a="http://schemas.openxmlformats.org/drawingml/2006/main">
            <a: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rPr>
              <a:t>z = (value − local mean) / local SD</a:t>
            </a:r>
          </a:p>
          <a:p xmlns:a="http://schemas.openxmlformats.org/drawingml/2006/main">
            <a: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rPr>
              <a:t>Late-summer EVI and LAI</a:t>
            </a:r>
          </a:p>
          <a:p xmlns:a="http://schemas.openxmlformats.org/drawingml/2006/main">
            <a: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rPr>
              <a:t>Event: z &lt; −0.5</a:t>
            </a:r>
          </a:p>
          <a:p xmlns:a="http://schemas.openxmlformats.org/drawingml/2006/main">
            <a: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rPr>
              <a:t>Combined event: EVI OR LAI</a:t>
            </a:r>
          </a:p>
        </p:txBody>
      </p:sp>
      <p:sp>
        <p:nvSpPr>
          <p:cNvPr id="29" name="Compound stress definition">
            <a:extLst xmlns:a="http://schemas.openxmlformats.org/drawingml/2006/main">
              <a:ext uri="{FF2B5EF4-FFF2-40B4-BE49-F238E27FC236}">
                <a16:creationId xmlns:a16="http://schemas.microsoft.com/office/drawing/2014/main" id="{841E789C-2782-4C9C-BC39-92148D98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067300"/>
            <a:ext cx="4095750" cy="2495550"/>
          </a:xfrm>
          <a:prstGeom xmlns:a="http://schemas.openxmlformats.org/drawingml/2006/main" prst="roundRect">
            <a:avLst>
              <a:gd name="adj" fmla="val 45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A8BCC4"/>
            </a:solidFill>
            <a:prstDash val="solid"/>
          </a:ln>
        </p:spPr>
      </p:sp>
      <p:sp>
        <p:nvSpPr>
          <p:cNvPr id="30" name="Compound stress definition title">
            <a:extLst xmlns:a="http://schemas.openxmlformats.org/drawingml/2006/main">
              <a:ext uri="{FF2B5EF4-FFF2-40B4-BE49-F238E27FC236}">
                <a16:creationId xmlns:a16="http://schemas.microsoft.com/office/drawing/2014/main" id="{C849914A-9493-4E46-90C0-23C0DBEF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5153025"/>
            <a:ext cx="3867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rPr>
              <a:t>Compound heat–dryness</a:t>
            </a:r>
          </a:p>
        </p:txBody>
      </p:sp>
      <p:sp>
        <p:nvSpPr>
          <p:cNvPr id="31" name="Compound stress definition body">
            <a:extLst xmlns:a="http://schemas.openxmlformats.org/drawingml/2006/main">
              <a:ext uri="{FF2B5EF4-FFF2-40B4-BE49-F238E27FC236}">
                <a16:creationId xmlns:a16="http://schemas.microsoft.com/office/drawing/2014/main" id="{8A90A8A1-E305-4C21-B047-C233F7B2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5619750"/>
            <a:ext cx="37528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rPr>
              <a:t>Summer standardized components</a:t>
            </a:r>
          </a:p>
          <a:p xmlns:a="http://schemas.openxmlformats.org/drawingml/2006/main">
            <a: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rPr>
              <a:t>HDSI = (VPDz + LSTz</a:t>
            </a:r>
          </a:p>
          <a:p xmlns:a="http://schemas.openxmlformats.org/drawingml/2006/main">
            <a: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rPr>
              <a:t>− SMz − Precipz) / 4</a:t>
            </a:r>
          </a:p>
          <a:p xmlns:a="http://schemas.openxmlformats.org/drawingml/2006/main">
            <a: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rPr>
              <a:t>Low exposure: HDSI &lt; Q25</a:t>
            </a:r>
          </a:p>
          <a:p xmlns:a="http://schemas.openxmlformats.org/drawingml/2006/main">
            <a: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rPr>
              <a:t>High exposure: HDSI &gt; Q75</a:t>
            </a:r>
          </a:p>
        </p:txBody>
      </p:sp>
      <p:sp>
        <p:nvSpPr>
          <p:cNvPr id="32" name="Aquatic classification">
            <a:extLst xmlns:a="http://schemas.openxmlformats.org/drawingml/2006/main">
              <a:ext uri="{FF2B5EF4-FFF2-40B4-BE49-F238E27FC236}">
                <a16:creationId xmlns:a16="http://schemas.microsoft.com/office/drawing/2014/main" id="{92C46123-B680-46A4-95AC-68E231F0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5067300"/>
            <a:ext cx="4095750" cy="2495550"/>
          </a:xfrm>
          <a:prstGeom xmlns:a="http://schemas.openxmlformats.org/drawingml/2006/main" prst="roundRect">
            <a:avLst>
              <a:gd name="adj" fmla="val 45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A8BCC4"/>
            </a:solidFill>
            <a:prstDash val="solid"/>
          </a:ln>
        </p:spPr>
      </p:sp>
      <p:sp>
        <p:nvSpPr>
          <p:cNvPr id="33" name="Aquatic classification title">
            <a:extLst xmlns:a="http://schemas.openxmlformats.org/drawingml/2006/main">
              <a:ext uri="{FF2B5EF4-FFF2-40B4-BE49-F238E27FC236}">
                <a16:creationId xmlns:a16="http://schemas.microsoft.com/office/drawing/2014/main" id="{E2322FFF-2C2A-4A42-9EA5-E989AB8B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5153025"/>
            <a:ext cx="3867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rPr>
              <a:t>Aquatic contexts</a:t>
            </a:r>
          </a:p>
        </p:txBody>
      </p:sp>
      <p:sp>
        <p:nvSpPr>
          <p:cNvPr id="34" name="Aquatic classification body">
            <a:extLst xmlns:a="http://schemas.openxmlformats.org/drawingml/2006/main">
              <a:ext uri="{FF2B5EF4-FFF2-40B4-BE49-F238E27FC236}">
                <a16:creationId xmlns:a16="http://schemas.microsoft.com/office/drawing/2014/main" id="{643F9AEE-EE8E-4EEB-A593-E7E32757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619750"/>
            <a:ext cx="37528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rPr>
              <a:t>Permanent: occurrence ≥80%</a:t>
            </a:r>
          </a:p>
          <a:p xmlns:a="http://schemas.openxmlformats.org/drawingml/2006/main">
            <a: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rPr>
              <a:t>and seasonality ≥10 months</a:t>
            </a:r>
          </a:p>
          <a:p xmlns:a="http://schemas.openxmlformats.org/drawingml/2006/main">
            <a: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rPr>
              <a:t>Seasonal: 1–&lt;10 months</a:t>
            </a:r>
          </a:p>
          <a:p xmlns:a="http://schemas.openxmlformats.org/drawingml/2006/main">
            <a: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rPr>
              <a:t>30 m UTM distance, 1 km centroid rule</a:t>
            </a:r>
          </a:p>
          <a:p xmlns:a="http://schemas.openxmlformats.org/drawingml/2006/main">
            <a: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rPr>
              <a:t>Permanent / seasonal / other</a:t>
            </a:r>
          </a:p>
        </p:txBody>
      </p:sp>
      <p:sp>
        <p:nvSpPr>
          <p:cNvPr id="35" name="Stage 2 to Stage 3">
            <a:extLst xmlns:a="http://schemas.openxmlformats.org/drawingml/2006/main">
              <a:ext uri="{FF2B5EF4-FFF2-40B4-BE49-F238E27FC236}">
                <a16:creationId xmlns:a16="http://schemas.microsoft.com/office/drawing/2014/main" id="{B5376A5E-BE54-4AF4-A12D-A903AC5B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7867650"/>
            <a:ext cx="571500" cy="4572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87EBA"/>
          </a:solidFill>
          <a:ln xmlns:a="http://schemas.openxmlformats.org/drawingml/2006/main" w="4763">
            <a:solidFill>
              <a:srgbClr val="087EBA"/>
            </a:solidFill>
          </a:ln>
        </p:spPr>
      </p:sp>
      <p:sp>
        <p:nvSpPr>
          <p:cNvPr id="36" name="Stage 3 background">
            <a:extLst xmlns:a="http://schemas.openxmlformats.org/drawingml/2006/main">
              <a:ext uri="{FF2B5EF4-FFF2-40B4-BE49-F238E27FC236}">
                <a16:creationId xmlns:a16="http://schemas.microsoft.com/office/drawing/2014/main" id="{430FD0F4-507B-4579-B945-E6AC9D6D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763000"/>
            <a:ext cx="13830300" cy="2476500"/>
          </a:xfrm>
          <a:prstGeom xmlns:a="http://schemas.openxmlformats.org/drawingml/2006/main" prst="roundRect">
            <a:avLst>
              <a:gd name="adj" fmla="val 14615"/>
            </a:avLst>
          </a:prstGeom>
          <a:solidFill xmlns:a="http://schemas.openxmlformats.org/drawingml/2006/main">
            <a:srgbClr val="E8F1E0"/>
          </a:solidFill>
          <a:ln xmlns:a="http://schemas.openxmlformats.org/drawingml/2006/main" w="15240">
            <a:solidFill>
              <a:srgbClr val="A2B1B6"/>
            </a:solidFill>
            <a:prstDash val="solid"/>
          </a:ln>
        </p:spPr>
      </p:sp>
      <p:sp>
        <p:nvSpPr>
          <p:cNvPr id="37" name="Stage 3 heading">
            <a:extLst xmlns:a="http://schemas.openxmlformats.org/drawingml/2006/main">
              <a:ext uri="{FF2B5EF4-FFF2-40B4-BE49-F238E27FC236}">
                <a16:creationId xmlns:a16="http://schemas.microsoft.com/office/drawing/2014/main" id="{04C0A72B-6700-4D52-8E63-F4F6AE43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8401050"/>
            <a:ext cx="9810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BBDEDF"/>
          </a:solidFill>
          <a:ln xmlns:a="http://schemas.openxmlformats.org/drawingml/2006/main" w="15240">
            <a:solidFill>
              <a:srgbClr val="A2B1B6"/>
            </a:solidFill>
            <a:prstDash val="solid"/>
          </a:ln>
        </p:spPr>
      </p:sp>
      <p:sp>
        <p:nvSpPr>
          <p:cNvPr id="38" name="Stage 3 title">
            <a:extLst xmlns:a="http://schemas.openxmlformats.org/drawingml/2006/main">
              <a:ext uri="{FF2B5EF4-FFF2-40B4-BE49-F238E27FC236}">
                <a16:creationId xmlns:a16="http://schemas.microsoft.com/office/drawing/2014/main" id="{E76EBC3C-C5E8-4A65-A83D-058266BB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8439150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300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300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300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300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300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300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300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300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300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300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rPr>
              <a:t>Vegetation risk and aquatic fragility buffering</a:t>
            </a:r>
          </a:p>
        </p:txBody>
      </p:sp>
      <p:sp>
        <p:nvSpPr>
          <p:cNvPr id="39" name="Stratify sample">
            <a:extLst xmlns:a="http://schemas.openxmlformats.org/drawingml/2006/main">
              <a:ext uri="{FF2B5EF4-FFF2-40B4-BE49-F238E27FC236}">
                <a16:creationId xmlns:a16="http://schemas.microsoft.com/office/drawing/2014/main" id="{88AD2629-9C7A-4D2A-8ED8-C48B840E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353550"/>
            <a:ext cx="2867025" cy="1495425"/>
          </a:xfrm>
          <a:prstGeom xmlns:a="http://schemas.openxmlformats.org/drawingml/2006/main" prst="roundRect">
            <a:avLst>
              <a:gd name="adj" fmla="val 76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A8BCC4"/>
            </a:solidFill>
            <a:prstDash val="solid"/>
          </a:ln>
        </p:spPr>
      </p:sp>
      <p:sp>
        <p:nvSpPr>
          <p:cNvPr id="40" name="Stratify sample title">
            <a:extLst xmlns:a="http://schemas.openxmlformats.org/drawingml/2006/main">
              <a:ext uri="{FF2B5EF4-FFF2-40B4-BE49-F238E27FC236}">
                <a16:creationId xmlns:a16="http://schemas.microsoft.com/office/drawing/2014/main" id="{23B538A9-8EC3-4F08-B662-E445500B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9439275"/>
            <a:ext cx="26384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rPr>
              <a:t>Exposure groups</a:t>
            </a:r>
          </a:p>
        </p:txBody>
      </p:sp>
      <p:sp>
        <p:nvSpPr>
          <p:cNvPr id="41" name="Stratify sample body">
            <a:extLst xmlns:a="http://schemas.openxmlformats.org/drawingml/2006/main">
              <a:ext uri="{FF2B5EF4-FFF2-40B4-BE49-F238E27FC236}">
                <a16:creationId xmlns:a16="http://schemas.microsoft.com/office/drawing/2014/main" id="{AA9AC72C-3631-49AF-859B-26A5B8AA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9906000"/>
            <a:ext cx="2524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rPr>
              <a:t>Low and high HDSI</a:t>
            </a:r>
          </a:p>
          <a:p xmlns:a="http://schemas.openxmlformats.org/drawingml/2006/main">
            <a: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rPr>
              <a:t>within each aquatic context</a:t>
            </a:r>
          </a:p>
        </p:txBody>
      </p:sp>
      <p:sp>
        <p:nvSpPr>
          <p:cNvPr id="42" name="Exposure to risk">
            <a:extLst xmlns:a="http://schemas.openxmlformats.org/drawingml/2006/main">
              <a:ext uri="{FF2B5EF4-FFF2-40B4-BE49-F238E27FC236}">
                <a16:creationId xmlns:a16="http://schemas.microsoft.com/office/drawing/2014/main" id="{A71314BA-EBFA-43A1-987B-70315D43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9934575"/>
            <a:ext cx="4572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EBA"/>
          </a:solidFill>
          <a:ln xmlns:a="http://schemas.openxmlformats.org/drawingml/2006/main" w="4763">
            <a:solidFill>
              <a:srgbClr val="087EBA"/>
            </a:solidFill>
          </a:ln>
        </p:spPr>
      </p:sp>
      <p:sp>
        <p:nvSpPr>
          <p:cNvPr id="43" name="Risk definition">
            <a:extLst xmlns:a="http://schemas.openxmlformats.org/drawingml/2006/main">
              <a:ext uri="{FF2B5EF4-FFF2-40B4-BE49-F238E27FC236}">
                <a16:creationId xmlns:a16="http://schemas.microsoft.com/office/drawing/2014/main" id="{A5F19085-0E96-48D1-9F78-EFAA8166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9353550"/>
            <a:ext cx="2867025" cy="1495425"/>
          </a:xfrm>
          <a:prstGeom xmlns:a="http://schemas.openxmlformats.org/drawingml/2006/main" prst="roundRect">
            <a:avLst>
              <a:gd name="adj" fmla="val 76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A8BCC4"/>
            </a:solidFill>
            <a:prstDash val="solid"/>
          </a:ln>
        </p:spPr>
      </p:sp>
      <p:sp>
        <p:nvSpPr>
          <p:cNvPr id="44" name="Risk definition title">
            <a:extLst xmlns:a="http://schemas.openxmlformats.org/drawingml/2006/main">
              <a:ext uri="{FF2B5EF4-FFF2-40B4-BE49-F238E27FC236}">
                <a16:creationId xmlns:a16="http://schemas.microsoft.com/office/drawing/2014/main" id="{4EC1EA5A-1A92-4F4D-A620-8F57ECAA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9439275"/>
            <a:ext cx="26384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rPr>
              <a:t>Event probability</a:t>
            </a:r>
          </a:p>
        </p:txBody>
      </p:sp>
      <p:sp>
        <p:nvSpPr>
          <p:cNvPr id="45" name="Risk definition body">
            <a:extLst xmlns:a="http://schemas.openxmlformats.org/drawingml/2006/main">
              <a:ext uri="{FF2B5EF4-FFF2-40B4-BE49-F238E27FC236}">
                <a16:creationId xmlns:a16="http://schemas.microsoft.com/office/drawing/2014/main" id="{4D3D58D9-3A52-48FB-8562-7BBB67FA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9906000"/>
            <a:ext cx="2524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rPr>
              <a:t>Risk = event count</a:t>
            </a:r>
          </a:p>
          <a:p xmlns:a="http://schemas.openxmlformats.org/drawingml/2006/main">
            <a: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rPr>
              <a:t>/ group sample size</a:t>
            </a:r>
          </a:p>
        </p:txBody>
      </p:sp>
      <p:sp>
        <p:nvSpPr>
          <p:cNvPr id="46" name="Risk to fragility">
            <a:extLst xmlns:a="http://schemas.openxmlformats.org/drawingml/2006/main">
              <a:ext uri="{FF2B5EF4-FFF2-40B4-BE49-F238E27FC236}">
                <a16:creationId xmlns:a16="http://schemas.microsoft.com/office/drawing/2014/main" id="{9E858000-DB63-48AF-9B09-81C5BC94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9934575"/>
            <a:ext cx="4572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EBA"/>
          </a:solidFill>
          <a:ln xmlns:a="http://schemas.openxmlformats.org/drawingml/2006/main" w="4763">
            <a:solidFill>
              <a:srgbClr val="087EBA"/>
            </a:solidFill>
          </a:ln>
        </p:spPr>
      </p:sp>
      <p:sp>
        <p:nvSpPr>
          <p:cNvPr id="47" name="Fragility definition">
            <a:extLst xmlns:a="http://schemas.openxmlformats.org/drawingml/2006/main">
              <a:ext uri="{FF2B5EF4-FFF2-40B4-BE49-F238E27FC236}">
                <a16:creationId xmlns:a16="http://schemas.microsoft.com/office/drawing/2014/main" id="{2A04EB7A-51DC-4129-BE20-53532D14F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9353550"/>
            <a:ext cx="2867025" cy="1495425"/>
          </a:xfrm>
          <a:prstGeom xmlns:a="http://schemas.openxmlformats.org/drawingml/2006/main" prst="roundRect">
            <a:avLst>
              <a:gd name="adj" fmla="val 76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A8BCC4"/>
            </a:solidFill>
            <a:prstDash val="solid"/>
          </a:ln>
        </p:spPr>
      </p:sp>
      <p:sp>
        <p:nvSpPr>
          <p:cNvPr id="48" name="Fragility definition title">
            <a:extLst xmlns:a="http://schemas.openxmlformats.org/drawingml/2006/main">
              <a:ext uri="{FF2B5EF4-FFF2-40B4-BE49-F238E27FC236}">
                <a16:creationId xmlns:a16="http://schemas.microsoft.com/office/drawing/2014/main" id="{1B46222B-2C20-487E-BF07-7C80BCF5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9439275"/>
            <a:ext cx="26384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rPr>
              <a:t>Vegetation fragility</a:t>
            </a:r>
          </a:p>
        </p:txBody>
      </p:sp>
      <p:sp>
        <p:nvSpPr>
          <p:cNvPr id="49" name="Fragility definition body">
            <a:extLst xmlns:a="http://schemas.openxmlformats.org/drawingml/2006/main">
              <a:ext uri="{FF2B5EF4-FFF2-40B4-BE49-F238E27FC236}">
                <a16:creationId xmlns:a16="http://schemas.microsoft.com/office/drawing/2014/main" id="{55FE7202-AB46-4578-9255-DFFCEA21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9906000"/>
            <a:ext cx="25241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rPr>
              <a:t>F = Risk(high HDSI)</a:t>
            </a:r>
          </a:p>
          <a:p xmlns:a="http://schemas.openxmlformats.org/drawingml/2006/main">
            <a: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rPr>
              <a:t>− Risk(low HDSI)</a:t>
            </a:r>
          </a:p>
        </p:txBody>
      </p:sp>
      <p:sp>
        <p:nvSpPr>
          <p:cNvPr id="50" name="Fragility to AFB">
            <a:extLst xmlns:a="http://schemas.openxmlformats.org/drawingml/2006/main">
              <a:ext uri="{FF2B5EF4-FFF2-40B4-BE49-F238E27FC236}">
                <a16:creationId xmlns:a16="http://schemas.microsoft.com/office/drawing/2014/main" id="{B21CAB32-BD57-4ADA-AAF6-9FD65B5B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9934575"/>
            <a:ext cx="4572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EBA"/>
          </a:solidFill>
          <a:ln xmlns:a="http://schemas.openxmlformats.org/drawingml/2006/main" w="4763">
            <a:solidFill>
              <a:srgbClr val="087EBA"/>
            </a:solidFill>
          </a:ln>
        </p:spPr>
      </p:sp>
      <p:sp>
        <p:nvSpPr>
          <p:cNvPr id="51" name="Buffering contrast">
            <a:extLst xmlns:a="http://schemas.openxmlformats.org/drawingml/2006/main">
              <a:ext uri="{FF2B5EF4-FFF2-40B4-BE49-F238E27FC236}">
                <a16:creationId xmlns:a16="http://schemas.microsoft.com/office/drawing/2014/main" id="{8EECAF47-8C6D-4740-B4F1-76D72467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9353550"/>
            <a:ext cx="2533650" cy="1495425"/>
          </a:xfrm>
          <a:prstGeom xmlns:a="http://schemas.openxmlformats.org/drawingml/2006/main" prst="roundRect">
            <a:avLst>
              <a:gd name="adj" fmla="val 76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A8BCC4"/>
            </a:solidFill>
            <a:prstDash val="solid"/>
          </a:ln>
        </p:spPr>
      </p:sp>
      <p:sp>
        <p:nvSpPr>
          <p:cNvPr id="52" name="Buffering contrast title">
            <a:extLst xmlns:a="http://schemas.openxmlformats.org/drawingml/2006/main">
              <a:ext uri="{FF2B5EF4-FFF2-40B4-BE49-F238E27FC236}">
                <a16:creationId xmlns:a16="http://schemas.microsoft.com/office/drawing/2014/main" id="{E353225A-5031-4376-9AC1-6A9B85E0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9439275"/>
            <a:ext cx="2305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rPr>
              <a:t>Aquatic contrast</a:t>
            </a:r>
          </a:p>
        </p:txBody>
      </p:sp>
      <p:sp>
        <p:nvSpPr>
          <p:cNvPr id="53" name="Buffering contrast body">
            <a:extLst xmlns:a="http://schemas.openxmlformats.org/drawingml/2006/main">
              <a:ext uri="{FF2B5EF4-FFF2-40B4-BE49-F238E27FC236}">
                <a16:creationId xmlns:a16="http://schemas.microsoft.com/office/drawing/2014/main" id="{45A0BBDE-B0CD-47E7-BF1F-9F0228A5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9906000"/>
            <a:ext cx="2190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rPr>
              <a:t>AFB = F(comparison)</a:t>
            </a:r>
          </a:p>
          <a:p xmlns:a="http://schemas.openxmlformats.org/drawingml/2006/main">
            <a: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rPr>
              <a:t>− F(permanent)</a:t>
            </a:r>
          </a:p>
        </p:txBody>
      </p:sp>
      <p:sp>
        <p:nvSpPr>
          <p:cNvPr id="54" name="Stage 3 to Stage 4">
            <a:extLst xmlns:a="http://schemas.openxmlformats.org/drawingml/2006/main">
              <a:ext uri="{FF2B5EF4-FFF2-40B4-BE49-F238E27FC236}">
                <a16:creationId xmlns:a16="http://schemas.microsoft.com/office/drawing/2014/main" id="{55063D3F-8CA4-45EA-B9CE-C7AA0716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1306175"/>
            <a:ext cx="571500" cy="4572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87EBA"/>
          </a:solidFill>
          <a:ln xmlns:a="http://schemas.openxmlformats.org/drawingml/2006/main" w="4763">
            <a:solidFill>
              <a:srgbClr val="087EBA"/>
            </a:solidFill>
          </a:ln>
        </p:spPr>
      </p:sp>
      <p:sp>
        <p:nvSpPr>
          <p:cNvPr id="55" name="Stage 4 background">
            <a:extLst xmlns:a="http://schemas.openxmlformats.org/drawingml/2006/main">
              <a:ext uri="{FF2B5EF4-FFF2-40B4-BE49-F238E27FC236}">
                <a16:creationId xmlns:a16="http://schemas.microsoft.com/office/drawing/2014/main" id="{230747C0-B08E-4164-BE1A-0244DD4E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2192000"/>
            <a:ext cx="13830300" cy="3343275"/>
          </a:xfrm>
          <a:prstGeom xmlns:a="http://schemas.openxmlformats.org/drawingml/2006/main" prst="roundRect">
            <a:avLst>
              <a:gd name="adj" fmla="val 10826"/>
            </a:avLst>
          </a:prstGeom>
          <a:solidFill xmlns:a="http://schemas.openxmlformats.org/drawingml/2006/main">
            <a:srgbClr val="ECECEC"/>
          </a:solidFill>
          <a:ln xmlns:a="http://schemas.openxmlformats.org/drawingml/2006/main" w="15240">
            <a:solidFill>
              <a:srgbClr val="A2B1B6"/>
            </a:solidFill>
            <a:prstDash val="solid"/>
          </a:ln>
        </p:spPr>
      </p:sp>
      <p:sp>
        <p:nvSpPr>
          <p:cNvPr id="56" name="Stage 4 heading">
            <a:extLst xmlns:a="http://schemas.openxmlformats.org/drawingml/2006/main">
              <a:ext uri="{FF2B5EF4-FFF2-40B4-BE49-F238E27FC236}">
                <a16:creationId xmlns:a16="http://schemas.microsoft.com/office/drawing/2014/main" id="{B668A35C-ECDE-4AFD-9151-9853F09F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1830050"/>
            <a:ext cx="9810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BBDEDF"/>
          </a:solidFill>
          <a:ln xmlns:a="http://schemas.openxmlformats.org/drawingml/2006/main" w="15240">
            <a:solidFill>
              <a:srgbClr val="A2B1B6"/>
            </a:solidFill>
            <a:prstDash val="solid"/>
          </a:ln>
        </p:spPr>
      </p:sp>
      <p:sp>
        <p:nvSpPr>
          <p:cNvPr id="57" name="Stage 4 title">
            <a:extLst xmlns:a="http://schemas.openxmlformats.org/drawingml/2006/main">
              <a:ext uri="{FF2B5EF4-FFF2-40B4-BE49-F238E27FC236}">
                <a16:creationId xmlns:a16="http://schemas.microsoft.com/office/drawing/2014/main" id="{90E37D15-8A70-4918-9D0A-A381C1E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1868150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300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300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300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300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300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300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300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300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300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300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rPr>
              <a:t>Diagnostic analyses and supplementary checks</a:t>
            </a:r>
          </a:p>
        </p:txBody>
      </p:sp>
      <p:sp>
        <p:nvSpPr>
          <p:cNvPr id="58" name="Exposure and canopy diagnostics">
            <a:extLst xmlns:a="http://schemas.openxmlformats.org/drawingml/2006/main">
              <a:ext uri="{FF2B5EF4-FFF2-40B4-BE49-F238E27FC236}">
                <a16:creationId xmlns:a16="http://schemas.microsoft.com/office/drawing/2014/main" id="{10767583-90D6-4C97-A83D-D5E15BC4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2782550"/>
            <a:ext cx="4095750" cy="1552575"/>
          </a:xfrm>
          <a:prstGeom xmlns:a="http://schemas.openxmlformats.org/drawingml/2006/main" prst="roundRect">
            <a:avLst>
              <a:gd name="adj" fmla="val 73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A8BCC4"/>
            </a:solidFill>
            <a:prstDash val="solid"/>
          </a:ln>
        </p:spPr>
      </p:sp>
      <p:sp>
        <p:nvSpPr>
          <p:cNvPr id="59" name="Exposure and canopy diagnostics title">
            <a:extLst xmlns:a="http://schemas.openxmlformats.org/drawingml/2006/main">
              <a:ext uri="{FF2B5EF4-FFF2-40B4-BE49-F238E27FC236}">
                <a16:creationId xmlns:a16="http://schemas.microsoft.com/office/drawing/2014/main" id="{2DD8749A-C4CA-4AA0-BB85-C2987ACC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868275"/>
            <a:ext cx="3867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rPr>
              <a:t>Exposure and canopy</a:t>
            </a:r>
          </a:p>
        </p:txBody>
      </p:sp>
      <p:sp>
        <p:nvSpPr>
          <p:cNvPr id="60" name="Exposure and canopy diagnostics body">
            <a:extLst xmlns:a="http://schemas.openxmlformats.org/drawingml/2006/main">
              <a:ext uri="{FF2B5EF4-FFF2-40B4-BE49-F238E27FC236}">
                <a16:creationId xmlns:a16="http://schemas.microsoft.com/office/drawing/2014/main" id="{6A24A2EF-E30E-49BE-A055-AC44CAD0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33350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rPr>
              <a:t>Stress components under high HDSI</a:t>
            </a:r>
          </a:p>
          <a:p xmlns:a="http://schemas.openxmlformats.org/drawingml/2006/main">
            <a: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rPr>
              <a:t>Late-summer minus spring LAI z</a:t>
            </a:r>
          </a:p>
          <a:p xmlns:a="http://schemas.openxmlformats.org/drawingml/2006/main">
            <a: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rPr>
              <a:t>Low-to-high event probabilities</a:t>
            </a:r>
          </a:p>
        </p:txBody>
      </p:sp>
      <p:sp>
        <p:nvSpPr>
          <p:cNvPr id="61" name="Regional comparison">
            <a:extLst xmlns:a="http://schemas.openxmlformats.org/drawingml/2006/main">
              <a:ext uri="{FF2B5EF4-FFF2-40B4-BE49-F238E27FC236}">
                <a16:creationId xmlns:a16="http://schemas.microsoft.com/office/drawing/2014/main" id="{8DDA9FCE-F2D1-415D-B309-5D58A0FE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2782550"/>
            <a:ext cx="4095750" cy="1552575"/>
          </a:xfrm>
          <a:prstGeom xmlns:a="http://schemas.openxmlformats.org/drawingml/2006/main" prst="roundRect">
            <a:avLst>
              <a:gd name="adj" fmla="val 73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A8BCC4"/>
            </a:solidFill>
            <a:prstDash val="solid"/>
          </a:ln>
        </p:spPr>
      </p:sp>
      <p:sp>
        <p:nvSpPr>
          <p:cNvPr id="62" name="Regional comparison title">
            <a:extLst xmlns:a="http://schemas.openxmlformats.org/drawingml/2006/main">
              <a:ext uri="{FF2B5EF4-FFF2-40B4-BE49-F238E27FC236}">
                <a16:creationId xmlns:a16="http://schemas.microsoft.com/office/drawing/2014/main" id="{430A58D9-2037-4469-9E9C-236F69D6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12868275"/>
            <a:ext cx="3867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rPr>
              <a:t>Regional comparisons</a:t>
            </a:r>
          </a:p>
        </p:txBody>
      </p:sp>
      <p:sp>
        <p:nvSpPr>
          <p:cNvPr id="63" name="Regional comparison body">
            <a:extLst xmlns:a="http://schemas.openxmlformats.org/drawingml/2006/main">
              <a:ext uri="{FF2B5EF4-FFF2-40B4-BE49-F238E27FC236}">
                <a16:creationId xmlns:a16="http://schemas.microsoft.com/office/drawing/2014/main" id="{953CC2DB-9665-48C8-B522-9F2851BE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33350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rPr>
              <a:t>Macroregion stratification</a:t>
            </a:r>
          </a:p>
          <a:p xmlns:a="http://schemas.openxmlformats.org/drawingml/2006/main">
            <a: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rPr>
              <a:t>AFB by region and response</a:t>
            </a:r>
          </a:p>
          <a:p xmlns:a="http://schemas.openxmlformats.org/drawingml/2006/main">
            <a:pPr algn="ctr">
              <a:def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rPr>
              <a:t>Context and exposure support</a:t>
            </a:r>
          </a:p>
        </p:txBody>
      </p:sp>
      <p:sp>
        <p:nvSpPr>
          <p:cNvPr id="64" name="Supporting analyses">
            <a:extLst xmlns:a="http://schemas.openxmlformats.org/drawingml/2006/main">
              <a:ext uri="{FF2B5EF4-FFF2-40B4-BE49-F238E27FC236}">
                <a16:creationId xmlns:a16="http://schemas.microsoft.com/office/drawing/2014/main" id="{940770C5-7EFA-45F7-9452-AE776FFC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12782550"/>
            <a:ext cx="4095750" cy="1552575"/>
          </a:xfrm>
          <a:prstGeom xmlns:a="http://schemas.openxmlformats.org/drawingml/2006/main" prst="roundRect">
            <a:avLst>
              <a:gd name="adj" fmla="val 73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A8BCC4"/>
            </a:solidFill>
            <a:prstDash val="solid"/>
          </a:ln>
        </p:spPr>
      </p:sp>
      <p:sp>
        <p:nvSpPr>
          <p:cNvPr id="65" name="Supporting analyses title">
            <a:extLst xmlns:a="http://schemas.openxmlformats.org/drawingml/2006/main">
              <a:ext uri="{FF2B5EF4-FFF2-40B4-BE49-F238E27FC236}">
                <a16:creationId xmlns:a16="http://schemas.microsoft.com/office/drawing/2014/main" id="{7F1F537A-F986-4EB1-880B-06437727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12868275"/>
            <a:ext cx="3867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rPr>
              <a:t>Supplementary checks</a:t>
            </a:r>
          </a:p>
        </p:txBody>
      </p:sp>
      <p:sp>
        <p:nvSpPr>
          <p:cNvPr id="66" name="Supporting analyses body">
            <a:extLst xmlns:a="http://schemas.openxmlformats.org/drawingml/2006/main">
              <a:ext uri="{FF2B5EF4-FFF2-40B4-BE49-F238E27FC236}">
                <a16:creationId xmlns:a16="http://schemas.microsoft.com/office/drawing/2014/main" id="{6874D25B-5946-49D9-9967-44C64151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3335000"/>
            <a:ext cx="3752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187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187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187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187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187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187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187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187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187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rPr>
              <a:t>Environmental adjustment</a:t>
            </a:r>
          </a:p>
          <a:p xmlns:a="http://schemas.openxmlformats.org/drawingml/2006/main">
            <a:pPr algn="ctr">
              <a:defRPr sz="187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rPr>
              <a:t>Landscape strata and crop exclusion</a:t>
            </a:r>
          </a:p>
          <a:p xmlns:a="http://schemas.openxmlformats.org/drawingml/2006/main">
            <a:pPr algn="ctr">
              <a:defRPr sz="187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rPr>
              <a:t>Stress, threshold and year sensitivity</a:t>
            </a:r>
          </a:p>
        </p:txBody>
      </p:sp>
      <p:sp>
        <p:nvSpPr>
          <p:cNvPr id="67" name="Uncertainty methods">
            <a:extLst xmlns:a="http://schemas.openxmlformats.org/drawingml/2006/main">
              <a:ext uri="{FF2B5EF4-FFF2-40B4-BE49-F238E27FC236}">
                <a16:creationId xmlns:a16="http://schemas.microsoft.com/office/drawing/2014/main" id="{2CE1E2D1-C968-40F9-A463-2590AA16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582775"/>
            <a:ext cx="124968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ABB8BC"/>
            </a:solidFill>
            <a:prstDash val="solid"/>
          </a:ln>
        </p:spPr>
      </p:sp>
      <p:sp>
        <p:nvSpPr>
          <p:cNvPr id="68" name="Uncertainty summary">
            <a:extLst xmlns:a="http://schemas.openxmlformats.org/drawingml/2006/main">
              <a:ext uri="{FF2B5EF4-FFF2-40B4-BE49-F238E27FC236}">
                <a16:creationId xmlns:a16="http://schemas.microsoft.com/office/drawing/2014/main" id="{EF848A06-E801-4A9A-8647-EB74782F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4658975"/>
            <a:ext cx="12058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5252B"/>
                </a:solidFill>
                <a:latin typeface="Times New Roman"/>
                <a:ea typeface="Times New Roman"/>
                <a:cs typeface="Times New Roman"/>
              </a:rPr>
              <a:t>Uncertainty estimation: paired grid bootstrap     Grid-cluster model intervals     1°, 2° and 5° spatial blocks</a:t>
            </a:r>
          </a:p>
        </p:txBody>
      </p:sp>
    </p:spTree>
    <p:extLst>
      <p:ext uri="{BB962C8B-B14F-4D97-AF65-F5344CB8AC3E}">
        <p14:creationId xmlns:p14="http://schemas.microsoft.com/office/powerpoint/2010/main" val="17997782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2026-10-21T06:09:42.6290000Z</dcterms:created>
  <dcterms:modified xsi:type="dcterms:W3CDTF">2026-10-21T06:09:42.6290000Z</dcterms:modified>
</coreProperties>
</file>